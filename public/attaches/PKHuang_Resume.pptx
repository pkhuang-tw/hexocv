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Lst>
  <p:sldSz cx="6858000" cy="9906000" type="A4"/>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100" d="100"/>
          <a:sy n="100" d="100"/>
        </p:scale>
        <p:origin x="2616" y="-11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090B76F5-00DB-4EFF-A778-474511B35808}" type="datetimeFigureOut">
              <a:rPr lang="zh-TW" altLang="en-US" smtClean="0"/>
              <a:t>2026/4/16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FB31EC-6808-440A-B686-8BAE0DF0B705}" type="slidenum">
              <a:rPr lang="zh-TW" altLang="en-US" smtClean="0"/>
              <a:t>‹#›</a:t>
            </a:fld>
            <a:endParaRPr lang="zh-TW" altLang="en-US"/>
          </a:p>
        </p:txBody>
      </p:sp>
    </p:spTree>
    <p:extLst>
      <p:ext uri="{BB962C8B-B14F-4D97-AF65-F5344CB8AC3E}">
        <p14:creationId xmlns:p14="http://schemas.microsoft.com/office/powerpoint/2010/main" val="4079377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090B76F5-00DB-4EFF-A778-474511B35808}" type="datetimeFigureOut">
              <a:rPr lang="zh-TW" altLang="en-US" smtClean="0"/>
              <a:t>2026/4/16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FB31EC-6808-440A-B686-8BAE0DF0B705}" type="slidenum">
              <a:rPr lang="zh-TW" altLang="en-US" smtClean="0"/>
              <a:t>‹#›</a:t>
            </a:fld>
            <a:endParaRPr lang="zh-TW" altLang="en-US"/>
          </a:p>
        </p:txBody>
      </p:sp>
    </p:spTree>
    <p:extLst>
      <p:ext uri="{BB962C8B-B14F-4D97-AF65-F5344CB8AC3E}">
        <p14:creationId xmlns:p14="http://schemas.microsoft.com/office/powerpoint/2010/main" val="393405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TW" altLang="en-US" smtClean="0"/>
              <a:t>編輯母片文字樣式</a:t>
            </a:r>
          </a:p>
        </p:txBody>
      </p:sp>
      <p:sp>
        <p:nvSpPr>
          <p:cNvPr id="4" name="Date Placeholder 3"/>
          <p:cNvSpPr>
            <a:spLocks noGrp="1"/>
          </p:cNvSpPr>
          <p:nvPr>
            <p:ph type="dt" sz="half" idx="10"/>
          </p:nvPr>
        </p:nvSpPr>
        <p:spPr/>
        <p:txBody>
          <a:bodyPr/>
          <a:lstStyle/>
          <a:p>
            <a:fld id="{090B76F5-00DB-4EFF-A778-474511B35808}" type="datetimeFigureOut">
              <a:rPr lang="zh-TW" altLang="en-US" smtClean="0"/>
              <a:t>2026/4/16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FB31EC-6808-440A-B686-8BAE0DF0B705}" type="slidenum">
              <a:rPr lang="zh-TW" altLang="en-US" smtClean="0"/>
              <a:t>‹#›</a:t>
            </a:fld>
            <a:endParaRPr lang="zh-TW" altLang="en-US"/>
          </a:p>
        </p:txBody>
      </p:sp>
    </p:spTree>
    <p:extLst>
      <p:ext uri="{BB962C8B-B14F-4D97-AF65-F5344CB8AC3E}">
        <p14:creationId xmlns:p14="http://schemas.microsoft.com/office/powerpoint/2010/main" val="212603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090B76F5-00DB-4EFF-A778-474511B35808}" type="datetimeFigureOut">
              <a:rPr lang="zh-TW" altLang="en-US" smtClean="0"/>
              <a:t>2026/4/16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73FB31EC-6808-440A-B686-8BAE0DF0B705}" type="slidenum">
              <a:rPr lang="zh-TW" altLang="en-US" smtClean="0"/>
              <a:t>‹#›</a:t>
            </a:fld>
            <a:endParaRPr lang="zh-TW" altLang="en-US"/>
          </a:p>
        </p:txBody>
      </p:sp>
    </p:spTree>
    <p:extLst>
      <p:ext uri="{BB962C8B-B14F-4D97-AF65-F5344CB8AC3E}">
        <p14:creationId xmlns:p14="http://schemas.microsoft.com/office/powerpoint/2010/main" val="633762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編輯母片文字樣式</a:t>
            </a:r>
          </a:p>
        </p:txBody>
      </p:sp>
      <p:sp>
        <p:nvSpPr>
          <p:cNvPr id="4" name="Content Placeholder 3"/>
          <p:cNvSpPr>
            <a:spLocks noGrp="1"/>
          </p:cNvSpPr>
          <p:nvPr>
            <p:ph sz="half" idx="2"/>
          </p:nvPr>
        </p:nvSpPr>
        <p:spPr>
          <a:xfrm>
            <a:off x="472381" y="3618442"/>
            <a:ext cx="2901255" cy="5322183"/>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編輯母片文字樣式</a:t>
            </a:r>
          </a:p>
        </p:txBody>
      </p:sp>
      <p:sp>
        <p:nvSpPr>
          <p:cNvPr id="6" name="Content Placeholder 5"/>
          <p:cNvSpPr>
            <a:spLocks noGrp="1"/>
          </p:cNvSpPr>
          <p:nvPr>
            <p:ph sz="quarter" idx="4"/>
          </p:nvPr>
        </p:nvSpPr>
        <p:spPr>
          <a:xfrm>
            <a:off x="3471863" y="3618442"/>
            <a:ext cx="2915543" cy="5322183"/>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090B76F5-00DB-4EFF-A778-474511B35808}" type="datetimeFigureOut">
              <a:rPr lang="zh-TW" altLang="en-US" smtClean="0"/>
              <a:t>2026/4/16</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73FB31EC-6808-440A-B686-8BAE0DF0B705}" type="slidenum">
              <a:rPr lang="zh-TW" altLang="en-US" smtClean="0"/>
              <a:t>‹#›</a:t>
            </a:fld>
            <a:endParaRPr lang="zh-TW" altLang="en-US"/>
          </a:p>
        </p:txBody>
      </p:sp>
    </p:spTree>
    <p:extLst>
      <p:ext uri="{BB962C8B-B14F-4D97-AF65-F5344CB8AC3E}">
        <p14:creationId xmlns:p14="http://schemas.microsoft.com/office/powerpoint/2010/main" val="249782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090B76F5-00DB-4EFF-A778-474511B35808}" type="datetimeFigureOut">
              <a:rPr lang="zh-TW" altLang="en-US" smtClean="0"/>
              <a:t>2026/4/16</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73FB31EC-6808-440A-B686-8BAE0DF0B705}" type="slidenum">
              <a:rPr lang="zh-TW" altLang="en-US" smtClean="0"/>
              <a:t>‹#›</a:t>
            </a:fld>
            <a:endParaRPr lang="zh-TW" altLang="en-US"/>
          </a:p>
        </p:txBody>
      </p:sp>
    </p:spTree>
    <p:extLst>
      <p:ext uri="{BB962C8B-B14F-4D97-AF65-F5344CB8AC3E}">
        <p14:creationId xmlns:p14="http://schemas.microsoft.com/office/powerpoint/2010/main" val="258010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0B76F5-00DB-4EFF-A778-474511B35808}" type="datetimeFigureOut">
              <a:rPr lang="zh-TW" altLang="en-US" smtClean="0"/>
              <a:t>2026/4/16</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73FB31EC-6808-440A-B686-8BAE0DF0B705}" type="slidenum">
              <a:rPr lang="zh-TW" altLang="en-US" smtClean="0"/>
              <a:t>‹#›</a:t>
            </a:fld>
            <a:endParaRPr lang="zh-TW" altLang="en-US"/>
          </a:p>
        </p:txBody>
      </p:sp>
    </p:spTree>
    <p:extLst>
      <p:ext uri="{BB962C8B-B14F-4D97-AF65-F5344CB8AC3E}">
        <p14:creationId xmlns:p14="http://schemas.microsoft.com/office/powerpoint/2010/main" val="2069066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編輯母片文字樣式</a:t>
            </a:r>
          </a:p>
        </p:txBody>
      </p:sp>
      <p:sp>
        <p:nvSpPr>
          <p:cNvPr id="5" name="Date Placeholder 4"/>
          <p:cNvSpPr>
            <a:spLocks noGrp="1"/>
          </p:cNvSpPr>
          <p:nvPr>
            <p:ph type="dt" sz="half" idx="10"/>
          </p:nvPr>
        </p:nvSpPr>
        <p:spPr/>
        <p:txBody>
          <a:bodyPr/>
          <a:lstStyle/>
          <a:p>
            <a:fld id="{090B76F5-00DB-4EFF-A778-474511B35808}" type="datetimeFigureOut">
              <a:rPr lang="zh-TW" altLang="en-US" smtClean="0"/>
              <a:t>2026/4/16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73FB31EC-6808-440A-B686-8BAE0DF0B705}" type="slidenum">
              <a:rPr lang="zh-TW" altLang="en-US" smtClean="0"/>
              <a:t>‹#›</a:t>
            </a:fld>
            <a:endParaRPr lang="zh-TW" altLang="en-US"/>
          </a:p>
        </p:txBody>
      </p:sp>
    </p:spTree>
    <p:extLst>
      <p:ext uri="{BB962C8B-B14F-4D97-AF65-F5344CB8AC3E}">
        <p14:creationId xmlns:p14="http://schemas.microsoft.com/office/powerpoint/2010/main" val="2262880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編輯母片文字樣式</a:t>
            </a:r>
          </a:p>
        </p:txBody>
      </p:sp>
      <p:sp>
        <p:nvSpPr>
          <p:cNvPr id="5" name="Date Placeholder 4"/>
          <p:cNvSpPr>
            <a:spLocks noGrp="1"/>
          </p:cNvSpPr>
          <p:nvPr>
            <p:ph type="dt" sz="half" idx="10"/>
          </p:nvPr>
        </p:nvSpPr>
        <p:spPr/>
        <p:txBody>
          <a:bodyPr/>
          <a:lstStyle/>
          <a:p>
            <a:fld id="{090B76F5-00DB-4EFF-A778-474511B35808}" type="datetimeFigureOut">
              <a:rPr lang="zh-TW" altLang="en-US" smtClean="0"/>
              <a:t>2026/4/16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73FB31EC-6808-440A-B686-8BAE0DF0B705}" type="slidenum">
              <a:rPr lang="zh-TW" altLang="en-US" smtClean="0"/>
              <a:t>‹#›</a:t>
            </a:fld>
            <a:endParaRPr lang="zh-TW" altLang="en-US"/>
          </a:p>
        </p:txBody>
      </p:sp>
    </p:spTree>
    <p:extLst>
      <p:ext uri="{BB962C8B-B14F-4D97-AF65-F5344CB8AC3E}">
        <p14:creationId xmlns:p14="http://schemas.microsoft.com/office/powerpoint/2010/main" val="882831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090B76F5-00DB-4EFF-A778-474511B35808}" type="datetimeFigureOut">
              <a:rPr lang="zh-TW" altLang="en-US" smtClean="0"/>
              <a:t>2026/4/16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FB31EC-6808-440A-B686-8BAE0DF0B705}" type="slidenum">
              <a:rPr lang="zh-TW" altLang="en-US" smtClean="0"/>
              <a:t>‹#›</a:t>
            </a:fld>
            <a:endParaRPr lang="zh-TW" altLang="en-US"/>
          </a:p>
        </p:txBody>
      </p:sp>
    </p:spTree>
    <p:extLst>
      <p:ext uri="{BB962C8B-B14F-4D97-AF65-F5344CB8AC3E}">
        <p14:creationId xmlns:p14="http://schemas.microsoft.com/office/powerpoint/2010/main" val="1007097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090B76F5-00DB-4EFF-A778-474511B35808}" type="datetimeFigureOut">
              <a:rPr lang="zh-TW" altLang="en-US" smtClean="0"/>
              <a:t>2026/4/16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FB31EC-6808-440A-B686-8BAE0DF0B705}" type="slidenum">
              <a:rPr lang="zh-TW" altLang="en-US" smtClean="0"/>
              <a:t>‹#›</a:t>
            </a:fld>
            <a:endParaRPr lang="zh-TW" altLang="en-US"/>
          </a:p>
        </p:txBody>
      </p:sp>
    </p:spTree>
    <p:extLst>
      <p:ext uri="{BB962C8B-B14F-4D97-AF65-F5344CB8AC3E}">
        <p14:creationId xmlns:p14="http://schemas.microsoft.com/office/powerpoint/2010/main" val="568661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090B76F5-00DB-4EFF-A778-474511B35808}" type="datetimeFigureOut">
              <a:rPr lang="zh-TW" altLang="en-US" smtClean="0"/>
              <a:t>2026/4/16</a:t>
            </a:fld>
            <a:endParaRPr lang="zh-TW"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73FB31EC-6808-440A-B686-8BAE0DF0B705}" type="slidenum">
              <a:rPr lang="zh-TW" altLang="en-US" smtClean="0"/>
              <a:t>‹#›</a:t>
            </a:fld>
            <a:endParaRPr lang="zh-TW" altLang="en-US"/>
          </a:p>
        </p:txBody>
      </p:sp>
    </p:spTree>
    <p:extLst>
      <p:ext uri="{BB962C8B-B14F-4D97-AF65-F5344CB8AC3E}">
        <p14:creationId xmlns:p14="http://schemas.microsoft.com/office/powerpoint/2010/main" val="214388336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pokaihuang.tw@gmail.com" TargetMode="External"/><Relationship Id="rId3" Type="http://schemas.openxmlformats.org/officeDocument/2006/relationships/hyperlink" Target="https://www.mipi.org/specifications/unipro-specifications" TargetMode="External"/><Relationship Id="rId7" Type="http://schemas.openxmlformats.org/officeDocument/2006/relationships/image" Target="../media/image2.png"/><Relationship Id="rId2" Type="http://schemas.openxmlformats.org/officeDocument/2006/relationships/hyperlink" Target="https://trustedcomputinggroup.org/resource/storage-work-group-storage-security-subsystem-class-opal/" TargetMode="External"/><Relationship Id="rId1" Type="http://schemas.openxmlformats.org/officeDocument/2006/relationships/slideLayout" Target="../slideLayouts/slideLayout2.xml"/><Relationship Id="rId6" Type="http://schemas.openxmlformats.org/officeDocument/2006/relationships/hyperlink" Target="https://github.com/PKhuang-TW" TargetMode="External"/><Relationship Id="rId11" Type="http://schemas.openxmlformats.org/officeDocument/2006/relationships/hyperlink" Target="https://www.mipi.org/specifications/csi-2" TargetMode="External"/><Relationship Id="rId5" Type="http://schemas.openxmlformats.org/officeDocument/2006/relationships/image" Target="../media/image1.png"/><Relationship Id="rId10" Type="http://schemas.openxmlformats.org/officeDocument/2006/relationships/image" Target="../media/image4.png"/><Relationship Id="rId4" Type="http://schemas.openxmlformats.org/officeDocument/2006/relationships/hyperlink" Target="https://pkhuang-tw.github.io/" TargetMode="Externa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線接點 22"/>
          <p:cNvCxnSpPr/>
          <p:nvPr/>
        </p:nvCxnSpPr>
        <p:spPr>
          <a:xfrm>
            <a:off x="391081" y="2035676"/>
            <a:ext cx="0" cy="7613149"/>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9" name="文字方塊 18"/>
          <p:cNvSpPr txBox="1"/>
          <p:nvPr/>
        </p:nvSpPr>
        <p:spPr>
          <a:xfrm>
            <a:off x="730644" y="1866399"/>
            <a:ext cx="3265638" cy="338554"/>
          </a:xfrm>
          <a:prstGeom prst="rect">
            <a:avLst/>
          </a:prstGeom>
          <a:noFill/>
        </p:spPr>
        <p:txBody>
          <a:bodyPr wrap="square" rtlCol="0">
            <a:spAutoFit/>
          </a:bodyPr>
          <a:lstStyle/>
          <a:p>
            <a:pPr algn="dist"/>
            <a:r>
              <a:rPr lang="en-US" altLang="zh-TW" sz="1600" dirty="0" smtClean="0">
                <a:solidFill>
                  <a:schemeClr val="tx1">
                    <a:lumMod val="85000"/>
                    <a:lumOff val="15000"/>
                  </a:schemeClr>
                </a:solidFill>
                <a:latin typeface="Arial Black" panose="020B0A04020102020204" pitchFamily="34" charset="0"/>
              </a:rPr>
              <a:t>PROFESSIONAL SUMMARY</a:t>
            </a:r>
            <a:endParaRPr lang="zh-TW" altLang="en-US" sz="1600" dirty="0">
              <a:solidFill>
                <a:schemeClr val="tx1">
                  <a:lumMod val="85000"/>
                  <a:lumOff val="15000"/>
                </a:schemeClr>
              </a:solidFill>
              <a:latin typeface="Arial Black" panose="020B0A04020102020204" pitchFamily="34" charset="0"/>
            </a:endParaRPr>
          </a:p>
        </p:txBody>
      </p:sp>
      <p:sp>
        <p:nvSpPr>
          <p:cNvPr id="21" name="文字方塊 20"/>
          <p:cNvSpPr txBox="1"/>
          <p:nvPr/>
        </p:nvSpPr>
        <p:spPr>
          <a:xfrm>
            <a:off x="730644" y="2232571"/>
            <a:ext cx="5802504" cy="1600438"/>
          </a:xfrm>
          <a:prstGeom prst="rect">
            <a:avLst/>
          </a:prstGeom>
          <a:noFill/>
        </p:spPr>
        <p:txBody>
          <a:bodyPr wrap="square" rtlCol="0">
            <a:spAutoFit/>
          </a:bodyPr>
          <a:lstStyle/>
          <a:p>
            <a:pPr algn="just"/>
            <a:r>
              <a:rPr lang="en-US" altLang="zh-TW" sz="1400" dirty="0">
                <a:solidFill>
                  <a:schemeClr val="tx1">
                    <a:lumMod val="85000"/>
                    <a:lumOff val="15000"/>
                  </a:schemeClr>
                </a:solidFill>
              </a:rPr>
              <a:t>Experienced engineer </a:t>
            </a:r>
            <a:r>
              <a:rPr lang="en-US" altLang="zh-TW" sz="1400" dirty="0" smtClean="0">
                <a:solidFill>
                  <a:schemeClr val="tx1">
                    <a:lumMod val="85000"/>
                    <a:lumOff val="15000"/>
                  </a:schemeClr>
                </a:solidFill>
              </a:rPr>
              <a:t>with </a:t>
            </a:r>
            <a:r>
              <a:rPr lang="en-US" altLang="zh-TW" sz="1400" dirty="0">
                <a:solidFill>
                  <a:schemeClr val="tx1">
                    <a:lumMod val="85000"/>
                    <a:lumOff val="15000"/>
                  </a:schemeClr>
                </a:solidFill>
              </a:rPr>
              <a:t>≈2 years in </a:t>
            </a:r>
            <a:r>
              <a:rPr lang="en-US" altLang="zh-TW" sz="1400" b="1" dirty="0">
                <a:solidFill>
                  <a:schemeClr val="tx1">
                    <a:lumMod val="85000"/>
                    <a:lumOff val="15000"/>
                  </a:schemeClr>
                </a:solidFill>
              </a:rPr>
              <a:t>design verification</a:t>
            </a:r>
            <a:r>
              <a:rPr lang="en-US" altLang="zh-TW" sz="1400" dirty="0">
                <a:solidFill>
                  <a:schemeClr val="tx1">
                    <a:lumMod val="85000"/>
                    <a:lumOff val="15000"/>
                  </a:schemeClr>
                </a:solidFill>
              </a:rPr>
              <a:t> and 3.5 years in </a:t>
            </a:r>
            <a:r>
              <a:rPr lang="en-US" altLang="zh-TW" sz="1400" b="1" dirty="0">
                <a:solidFill>
                  <a:schemeClr val="tx1">
                    <a:lumMod val="85000"/>
                    <a:lumOff val="15000"/>
                  </a:schemeClr>
                </a:solidFill>
              </a:rPr>
              <a:t>firmware development</a:t>
            </a:r>
            <a:r>
              <a:rPr lang="en-US" altLang="zh-TW" sz="1400" dirty="0">
                <a:solidFill>
                  <a:schemeClr val="tx1">
                    <a:lumMod val="85000"/>
                    <a:lumOff val="15000"/>
                  </a:schemeClr>
                </a:solidFill>
              </a:rPr>
              <a:t>. Skilled in collaborating with clients to define test plans and design test vectors, and experienced in working closely with in-house designers for efficient debugging. Familiar with FPV and using SVA to verify submodule behaviors. Proficient in establishing UVM architectures and integrating VIP into the UVM framework, applying the overall structure to in-house DUTs for detailed and comprehensive verification.</a:t>
            </a:r>
            <a:endParaRPr lang="zh-TW" altLang="en-US" sz="1100" dirty="0">
              <a:solidFill>
                <a:schemeClr val="tx1">
                  <a:lumMod val="85000"/>
                  <a:lumOff val="15000"/>
                </a:schemeClr>
              </a:solidFill>
            </a:endParaRPr>
          </a:p>
        </p:txBody>
      </p:sp>
      <p:sp>
        <p:nvSpPr>
          <p:cNvPr id="17" name="文字方塊 16"/>
          <p:cNvSpPr txBox="1"/>
          <p:nvPr/>
        </p:nvSpPr>
        <p:spPr>
          <a:xfrm>
            <a:off x="541820" y="1367476"/>
            <a:ext cx="3237168" cy="369332"/>
          </a:xfrm>
          <a:prstGeom prst="rect">
            <a:avLst/>
          </a:prstGeom>
          <a:noFill/>
        </p:spPr>
        <p:txBody>
          <a:bodyPr wrap="none" rtlCol="0">
            <a:spAutoFit/>
          </a:bodyPr>
          <a:lstStyle/>
          <a:p>
            <a:r>
              <a:rPr lang="en-US" altLang="zh-TW" dirty="0" smtClean="0">
                <a:solidFill>
                  <a:schemeClr val="tx1">
                    <a:lumMod val="85000"/>
                    <a:lumOff val="15000"/>
                  </a:schemeClr>
                </a:solidFill>
                <a:latin typeface="微軟正黑體" panose="020B0604030504040204" pitchFamily="34" charset="-120"/>
                <a:ea typeface="微軟正黑體" panose="020B0604030504040204" pitchFamily="34" charset="-120"/>
              </a:rPr>
              <a:t>Design Verification Engineer</a:t>
            </a:r>
            <a:endParaRPr lang="zh-TW" altLang="en-US" dirty="0">
              <a:solidFill>
                <a:schemeClr val="tx1">
                  <a:lumMod val="85000"/>
                  <a:lumOff val="15000"/>
                </a:schemeClr>
              </a:solidFill>
              <a:latin typeface="微軟正黑體" panose="020B0604030504040204" pitchFamily="34" charset="-120"/>
              <a:ea typeface="微軟正黑體" panose="020B0604030504040204" pitchFamily="34" charset="-120"/>
            </a:endParaRPr>
          </a:p>
        </p:txBody>
      </p:sp>
      <p:sp>
        <p:nvSpPr>
          <p:cNvPr id="22" name="文字方塊 21"/>
          <p:cNvSpPr txBox="1"/>
          <p:nvPr/>
        </p:nvSpPr>
        <p:spPr>
          <a:xfrm>
            <a:off x="760845" y="3889927"/>
            <a:ext cx="1844114" cy="338554"/>
          </a:xfrm>
          <a:prstGeom prst="rect">
            <a:avLst/>
          </a:prstGeom>
          <a:noFill/>
        </p:spPr>
        <p:txBody>
          <a:bodyPr wrap="square" rtlCol="0">
            <a:spAutoFit/>
          </a:bodyPr>
          <a:lstStyle/>
          <a:p>
            <a:pPr algn="dist"/>
            <a:r>
              <a:rPr lang="en-US" altLang="zh-TW" sz="1600" dirty="0" smtClean="0">
                <a:solidFill>
                  <a:schemeClr val="tx1">
                    <a:lumMod val="85000"/>
                    <a:lumOff val="15000"/>
                  </a:schemeClr>
                </a:solidFill>
                <a:latin typeface="Arial Black" panose="020B0A04020102020204" pitchFamily="34" charset="0"/>
              </a:rPr>
              <a:t>EXPERIENCE</a:t>
            </a:r>
            <a:endParaRPr lang="zh-TW" altLang="en-US" sz="1600" dirty="0">
              <a:solidFill>
                <a:schemeClr val="tx1">
                  <a:lumMod val="85000"/>
                  <a:lumOff val="15000"/>
                </a:schemeClr>
              </a:solidFill>
              <a:latin typeface="Arial Black" panose="020B0A04020102020204" pitchFamily="34" charset="0"/>
            </a:endParaRPr>
          </a:p>
        </p:txBody>
      </p:sp>
      <p:sp>
        <p:nvSpPr>
          <p:cNvPr id="29" name="文字方塊 28"/>
          <p:cNvSpPr txBox="1"/>
          <p:nvPr/>
        </p:nvSpPr>
        <p:spPr>
          <a:xfrm>
            <a:off x="730642" y="8286776"/>
            <a:ext cx="1844114" cy="338554"/>
          </a:xfrm>
          <a:prstGeom prst="rect">
            <a:avLst/>
          </a:prstGeom>
          <a:noFill/>
        </p:spPr>
        <p:txBody>
          <a:bodyPr wrap="square" rtlCol="0">
            <a:spAutoFit/>
          </a:bodyPr>
          <a:lstStyle/>
          <a:p>
            <a:pPr algn="dist"/>
            <a:r>
              <a:rPr lang="en-US" altLang="zh-TW" sz="1600" dirty="0" smtClean="0">
                <a:solidFill>
                  <a:schemeClr val="tx1">
                    <a:lumMod val="85000"/>
                    <a:lumOff val="15000"/>
                  </a:schemeClr>
                </a:solidFill>
                <a:latin typeface="Arial Black" panose="020B0A04020102020204" pitchFamily="34" charset="0"/>
              </a:rPr>
              <a:t>EDUCATION</a:t>
            </a:r>
            <a:endParaRPr lang="zh-TW" altLang="en-US" sz="1600" dirty="0">
              <a:solidFill>
                <a:schemeClr val="tx1">
                  <a:lumMod val="85000"/>
                  <a:lumOff val="15000"/>
                </a:schemeClr>
              </a:solidFill>
              <a:latin typeface="Arial Black" panose="020B0A04020102020204" pitchFamily="34" charset="0"/>
            </a:endParaRPr>
          </a:p>
        </p:txBody>
      </p:sp>
      <p:sp>
        <p:nvSpPr>
          <p:cNvPr id="30" name="文字方塊 29"/>
          <p:cNvSpPr txBox="1"/>
          <p:nvPr/>
        </p:nvSpPr>
        <p:spPr>
          <a:xfrm>
            <a:off x="760845" y="8625330"/>
            <a:ext cx="5802504" cy="338554"/>
          </a:xfrm>
          <a:prstGeom prst="rect">
            <a:avLst/>
          </a:prstGeom>
          <a:noFill/>
        </p:spPr>
        <p:txBody>
          <a:bodyPr wrap="square" rtlCol="0">
            <a:spAutoFit/>
          </a:bodyPr>
          <a:lstStyle/>
          <a:p>
            <a:r>
              <a:rPr lang="en-US" altLang="zh-TW" sz="1600" b="1" dirty="0" smtClean="0">
                <a:solidFill>
                  <a:schemeClr val="tx1">
                    <a:lumMod val="85000"/>
                    <a:lumOff val="15000"/>
                  </a:schemeClr>
                </a:solidFill>
              </a:rPr>
              <a:t>National </a:t>
            </a:r>
            <a:r>
              <a:rPr lang="en-US" altLang="zh-TW" sz="1600" b="1" dirty="0" err="1" smtClean="0">
                <a:solidFill>
                  <a:schemeClr val="tx1">
                    <a:lumMod val="85000"/>
                    <a:lumOff val="15000"/>
                  </a:schemeClr>
                </a:solidFill>
              </a:rPr>
              <a:t>Chiao</a:t>
            </a:r>
            <a:r>
              <a:rPr lang="en-US" altLang="zh-TW" sz="1600" b="1" dirty="0" smtClean="0">
                <a:solidFill>
                  <a:schemeClr val="tx1">
                    <a:lumMod val="85000"/>
                    <a:lumOff val="15000"/>
                  </a:schemeClr>
                </a:solidFill>
              </a:rPr>
              <a:t> Tung University</a:t>
            </a:r>
            <a:r>
              <a:rPr lang="en-US" altLang="zh-TW" sz="1600" dirty="0" smtClean="0">
                <a:solidFill>
                  <a:schemeClr val="tx1">
                    <a:lumMod val="85000"/>
                    <a:lumOff val="15000"/>
                  </a:schemeClr>
                </a:solidFill>
              </a:rPr>
              <a:t> - Hsinchu</a:t>
            </a:r>
            <a:endParaRPr lang="en-US" altLang="zh-TW" sz="1400" dirty="0">
              <a:solidFill>
                <a:schemeClr val="tx1">
                  <a:lumMod val="85000"/>
                  <a:lumOff val="15000"/>
                </a:schemeClr>
              </a:solidFill>
            </a:endParaRPr>
          </a:p>
        </p:txBody>
      </p:sp>
      <p:sp>
        <p:nvSpPr>
          <p:cNvPr id="31" name="文字方塊 30"/>
          <p:cNvSpPr txBox="1"/>
          <p:nvPr/>
        </p:nvSpPr>
        <p:spPr>
          <a:xfrm>
            <a:off x="760845" y="8847821"/>
            <a:ext cx="5802504" cy="307777"/>
          </a:xfrm>
          <a:prstGeom prst="rect">
            <a:avLst/>
          </a:prstGeom>
          <a:noFill/>
        </p:spPr>
        <p:txBody>
          <a:bodyPr wrap="square" rtlCol="0">
            <a:spAutoFit/>
          </a:bodyPr>
          <a:lstStyle/>
          <a:p>
            <a:r>
              <a:rPr lang="en-US" altLang="zh-TW" sz="1400" b="1" dirty="0" smtClean="0">
                <a:solidFill>
                  <a:schemeClr val="tx1">
                    <a:lumMod val="85000"/>
                    <a:lumOff val="15000"/>
                  </a:schemeClr>
                </a:solidFill>
              </a:rPr>
              <a:t>Master </a:t>
            </a:r>
            <a:r>
              <a:rPr lang="en-US" altLang="zh-TW" sz="1400" dirty="0" smtClean="0">
                <a:solidFill>
                  <a:schemeClr val="tx1">
                    <a:lumMod val="85000"/>
                    <a:lumOff val="15000"/>
                  </a:schemeClr>
                </a:solidFill>
              </a:rPr>
              <a:t>- Institute of Computer Science And Engineering</a:t>
            </a:r>
            <a:endParaRPr lang="en-US" altLang="zh-TW" sz="1200" dirty="0">
              <a:solidFill>
                <a:schemeClr val="tx1">
                  <a:lumMod val="85000"/>
                  <a:lumOff val="15000"/>
                </a:schemeClr>
              </a:solidFill>
            </a:endParaRPr>
          </a:p>
        </p:txBody>
      </p:sp>
      <p:sp>
        <p:nvSpPr>
          <p:cNvPr id="34" name="文字方塊 33"/>
          <p:cNvSpPr txBox="1"/>
          <p:nvPr/>
        </p:nvSpPr>
        <p:spPr>
          <a:xfrm>
            <a:off x="760845" y="9186375"/>
            <a:ext cx="5802504" cy="338554"/>
          </a:xfrm>
          <a:prstGeom prst="rect">
            <a:avLst/>
          </a:prstGeom>
          <a:noFill/>
        </p:spPr>
        <p:txBody>
          <a:bodyPr wrap="square" rtlCol="0">
            <a:spAutoFit/>
          </a:bodyPr>
          <a:lstStyle/>
          <a:p>
            <a:r>
              <a:rPr lang="en-US" altLang="zh-TW" sz="1600" b="1" dirty="0" smtClean="0">
                <a:solidFill>
                  <a:schemeClr val="tx1">
                    <a:lumMod val="85000"/>
                    <a:lumOff val="15000"/>
                  </a:schemeClr>
                </a:solidFill>
              </a:rPr>
              <a:t>National Central University</a:t>
            </a:r>
            <a:r>
              <a:rPr lang="en-US" altLang="zh-TW" sz="1600" dirty="0" smtClean="0">
                <a:solidFill>
                  <a:schemeClr val="tx1">
                    <a:lumMod val="85000"/>
                    <a:lumOff val="15000"/>
                  </a:schemeClr>
                </a:solidFill>
              </a:rPr>
              <a:t> - Taoyuan</a:t>
            </a:r>
            <a:endParaRPr lang="en-US" altLang="zh-TW" sz="1400" dirty="0">
              <a:solidFill>
                <a:schemeClr val="tx1">
                  <a:lumMod val="85000"/>
                  <a:lumOff val="15000"/>
                </a:schemeClr>
              </a:solidFill>
            </a:endParaRPr>
          </a:p>
        </p:txBody>
      </p:sp>
      <p:sp>
        <p:nvSpPr>
          <p:cNvPr id="35" name="文字方塊 34"/>
          <p:cNvSpPr txBox="1"/>
          <p:nvPr/>
        </p:nvSpPr>
        <p:spPr>
          <a:xfrm>
            <a:off x="760845" y="9408866"/>
            <a:ext cx="5802504" cy="307777"/>
          </a:xfrm>
          <a:prstGeom prst="rect">
            <a:avLst/>
          </a:prstGeom>
          <a:noFill/>
        </p:spPr>
        <p:txBody>
          <a:bodyPr wrap="square" rtlCol="0">
            <a:spAutoFit/>
          </a:bodyPr>
          <a:lstStyle/>
          <a:p>
            <a:r>
              <a:rPr lang="en-US" altLang="zh-TW" sz="1400" b="1" dirty="0" smtClean="0">
                <a:solidFill>
                  <a:schemeClr val="tx1">
                    <a:lumMod val="85000"/>
                    <a:lumOff val="15000"/>
                  </a:schemeClr>
                </a:solidFill>
              </a:rPr>
              <a:t>Bachelor </a:t>
            </a:r>
            <a:r>
              <a:rPr lang="en-US" altLang="zh-TW" sz="1400" dirty="0" smtClean="0">
                <a:solidFill>
                  <a:schemeClr val="tx1">
                    <a:lumMod val="85000"/>
                    <a:lumOff val="15000"/>
                  </a:schemeClr>
                </a:solidFill>
              </a:rPr>
              <a:t>– Department of Communication Engineering</a:t>
            </a:r>
            <a:endParaRPr lang="en-US" altLang="zh-TW" sz="1200" dirty="0">
              <a:solidFill>
                <a:schemeClr val="tx1">
                  <a:lumMod val="85000"/>
                  <a:lumOff val="15000"/>
                </a:schemeClr>
              </a:solidFill>
            </a:endParaRPr>
          </a:p>
        </p:txBody>
      </p:sp>
      <p:sp>
        <p:nvSpPr>
          <p:cNvPr id="36" name="文字方塊 35"/>
          <p:cNvSpPr txBox="1"/>
          <p:nvPr/>
        </p:nvSpPr>
        <p:spPr>
          <a:xfrm>
            <a:off x="5158264" y="8589234"/>
            <a:ext cx="1591451" cy="307777"/>
          </a:xfrm>
          <a:prstGeom prst="rect">
            <a:avLst/>
          </a:prstGeom>
          <a:noFill/>
        </p:spPr>
        <p:txBody>
          <a:bodyPr wrap="square" rtlCol="0">
            <a:spAutoFit/>
          </a:bodyPr>
          <a:lstStyle/>
          <a:p>
            <a:r>
              <a:rPr lang="en-US" altLang="zh-TW" sz="1400" dirty="0" smtClean="0">
                <a:solidFill>
                  <a:schemeClr val="tx1">
                    <a:lumMod val="85000"/>
                    <a:lumOff val="15000"/>
                  </a:schemeClr>
                </a:solidFill>
              </a:rPr>
              <a:t>09/2018 – 11/2020</a:t>
            </a:r>
            <a:endParaRPr lang="zh-TW" altLang="en-US" sz="1100" dirty="0">
              <a:solidFill>
                <a:schemeClr val="tx1">
                  <a:lumMod val="85000"/>
                  <a:lumOff val="15000"/>
                </a:schemeClr>
              </a:solidFill>
            </a:endParaRPr>
          </a:p>
        </p:txBody>
      </p:sp>
      <p:sp>
        <p:nvSpPr>
          <p:cNvPr id="37" name="文字方塊 36"/>
          <p:cNvSpPr txBox="1"/>
          <p:nvPr/>
        </p:nvSpPr>
        <p:spPr>
          <a:xfrm>
            <a:off x="5158264" y="9181056"/>
            <a:ext cx="1591451" cy="307777"/>
          </a:xfrm>
          <a:prstGeom prst="rect">
            <a:avLst/>
          </a:prstGeom>
          <a:noFill/>
        </p:spPr>
        <p:txBody>
          <a:bodyPr wrap="square" rtlCol="0">
            <a:spAutoFit/>
          </a:bodyPr>
          <a:lstStyle/>
          <a:p>
            <a:r>
              <a:rPr lang="en-US" altLang="zh-TW" sz="1400" dirty="0" smtClean="0">
                <a:solidFill>
                  <a:schemeClr val="tx1">
                    <a:lumMod val="85000"/>
                    <a:lumOff val="15000"/>
                  </a:schemeClr>
                </a:solidFill>
              </a:rPr>
              <a:t>09/2013 – 06/2017</a:t>
            </a:r>
            <a:endParaRPr lang="zh-TW" altLang="en-US" sz="1100" dirty="0">
              <a:solidFill>
                <a:schemeClr val="tx1">
                  <a:lumMod val="85000"/>
                  <a:lumOff val="15000"/>
                </a:schemeClr>
              </a:solidFill>
            </a:endParaRPr>
          </a:p>
        </p:txBody>
      </p:sp>
      <p:sp>
        <p:nvSpPr>
          <p:cNvPr id="4" name="橢圓 3"/>
          <p:cNvSpPr/>
          <p:nvPr/>
        </p:nvSpPr>
        <p:spPr>
          <a:xfrm>
            <a:off x="338718" y="1983313"/>
            <a:ext cx="104726" cy="1047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lumMod val="85000"/>
                  <a:lumOff val="15000"/>
                </a:schemeClr>
              </a:solidFill>
            </a:endParaRPr>
          </a:p>
        </p:txBody>
      </p:sp>
      <p:sp>
        <p:nvSpPr>
          <p:cNvPr id="38" name="橢圓 37"/>
          <p:cNvSpPr/>
          <p:nvPr/>
        </p:nvSpPr>
        <p:spPr>
          <a:xfrm>
            <a:off x="338718" y="4006841"/>
            <a:ext cx="104726" cy="1047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lumMod val="85000"/>
                  <a:lumOff val="15000"/>
                </a:schemeClr>
              </a:solidFill>
            </a:endParaRPr>
          </a:p>
        </p:txBody>
      </p:sp>
      <p:sp>
        <p:nvSpPr>
          <p:cNvPr id="39" name="橢圓 38"/>
          <p:cNvSpPr/>
          <p:nvPr/>
        </p:nvSpPr>
        <p:spPr>
          <a:xfrm>
            <a:off x="338718" y="8405694"/>
            <a:ext cx="104726" cy="1047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lumMod val="85000"/>
                  <a:lumOff val="15000"/>
                </a:schemeClr>
              </a:solidFill>
            </a:endParaRPr>
          </a:p>
        </p:txBody>
      </p:sp>
      <p:grpSp>
        <p:nvGrpSpPr>
          <p:cNvPr id="5" name="群組 4"/>
          <p:cNvGrpSpPr/>
          <p:nvPr/>
        </p:nvGrpSpPr>
        <p:grpSpPr>
          <a:xfrm>
            <a:off x="730642" y="6993848"/>
            <a:ext cx="6003970" cy="1323440"/>
            <a:chOff x="730643" y="6862066"/>
            <a:chExt cx="6003970" cy="1323440"/>
          </a:xfrm>
        </p:grpSpPr>
        <p:sp>
          <p:nvSpPr>
            <p:cNvPr id="26" name="文字方塊 25"/>
            <p:cNvSpPr txBox="1"/>
            <p:nvPr/>
          </p:nvSpPr>
          <p:spPr>
            <a:xfrm>
              <a:off x="730643" y="6862066"/>
              <a:ext cx="3222066" cy="338554"/>
            </a:xfrm>
            <a:prstGeom prst="rect">
              <a:avLst/>
            </a:prstGeom>
            <a:noFill/>
          </p:spPr>
          <p:txBody>
            <a:bodyPr wrap="square" rtlCol="0">
              <a:spAutoFit/>
            </a:bodyPr>
            <a:lstStyle/>
            <a:p>
              <a:r>
                <a:rPr lang="en-US" altLang="zh-TW" sz="1600" b="1" dirty="0" smtClean="0">
                  <a:solidFill>
                    <a:schemeClr val="tx1">
                      <a:lumMod val="85000"/>
                      <a:lumOff val="15000"/>
                    </a:schemeClr>
                  </a:solidFill>
                </a:rPr>
                <a:t>Firmware Engineer</a:t>
              </a:r>
              <a:r>
                <a:rPr lang="en-US" altLang="zh-TW" sz="1400" b="1" dirty="0" smtClean="0">
                  <a:solidFill>
                    <a:schemeClr val="tx1">
                      <a:lumMod val="85000"/>
                      <a:lumOff val="15000"/>
                    </a:schemeClr>
                  </a:solidFill>
                </a:rPr>
                <a:t>  </a:t>
              </a:r>
              <a:r>
                <a:rPr lang="en-US" altLang="zh-TW" sz="1400" dirty="0" smtClean="0">
                  <a:solidFill>
                    <a:schemeClr val="tx1">
                      <a:lumMod val="85000"/>
                      <a:lumOff val="15000"/>
                    </a:schemeClr>
                  </a:solidFill>
                </a:rPr>
                <a:t>|  Silicon Motion</a:t>
              </a:r>
              <a:endParaRPr lang="en-US" altLang="zh-TW" sz="1400" dirty="0">
                <a:solidFill>
                  <a:schemeClr val="tx1">
                    <a:lumMod val="85000"/>
                    <a:lumOff val="15000"/>
                  </a:schemeClr>
                </a:solidFill>
              </a:endParaRPr>
            </a:p>
          </p:txBody>
        </p:sp>
        <p:sp>
          <p:nvSpPr>
            <p:cNvPr id="28" name="文字方塊 27"/>
            <p:cNvSpPr txBox="1"/>
            <p:nvPr/>
          </p:nvSpPr>
          <p:spPr>
            <a:xfrm>
              <a:off x="745744" y="7169843"/>
              <a:ext cx="5802504" cy="1015663"/>
            </a:xfrm>
            <a:prstGeom prst="rect">
              <a:avLst/>
            </a:prstGeom>
            <a:noFill/>
          </p:spPr>
          <p:txBody>
            <a:bodyPr wrap="square" rtlCol="0">
              <a:spAutoFit/>
            </a:bodyPr>
            <a:lstStyle/>
            <a:p>
              <a:pPr marL="285750" indent="-285750" algn="just">
                <a:buFont typeface="Arial" panose="020B0604020202020204" pitchFamily="34" charset="0"/>
                <a:buChar char="•"/>
              </a:pPr>
              <a:r>
                <a:rPr lang="en-US" altLang="zh-TW" sz="1200" dirty="0">
                  <a:solidFill>
                    <a:schemeClr val="tx1">
                      <a:lumMod val="85000"/>
                      <a:lumOff val="15000"/>
                    </a:schemeClr>
                  </a:solidFill>
                </a:rPr>
                <a:t>Develop Security features according to </a:t>
              </a:r>
              <a:r>
                <a:rPr lang="en-US" altLang="zh-TW" sz="1200" dirty="0">
                  <a:solidFill>
                    <a:schemeClr val="tx1">
                      <a:lumMod val="85000"/>
                      <a:lumOff val="15000"/>
                    </a:schemeClr>
                  </a:solidFill>
                  <a:hlinkClick r:id="rId2"/>
                </a:rPr>
                <a:t>TCG</a:t>
              </a:r>
              <a:r>
                <a:rPr lang="en-US" altLang="zh-TW" sz="1200" dirty="0">
                  <a:solidFill>
                    <a:schemeClr val="tx1">
                      <a:lumMod val="85000"/>
                      <a:lumOff val="15000"/>
                    </a:schemeClr>
                  </a:solidFill>
                </a:rPr>
                <a:t> specification</a:t>
              </a:r>
            </a:p>
            <a:p>
              <a:pPr marL="285750" indent="-285750" algn="just">
                <a:buFont typeface="Arial" panose="020B0604020202020204" pitchFamily="34" charset="0"/>
                <a:buChar char="•"/>
              </a:pPr>
              <a:r>
                <a:rPr lang="en-US" altLang="zh-TW" sz="1200" dirty="0">
                  <a:solidFill>
                    <a:schemeClr val="tx1">
                      <a:lumMod val="85000"/>
                      <a:lumOff val="15000"/>
                    </a:schemeClr>
                  </a:solidFill>
                </a:rPr>
                <a:t>Design Security features </a:t>
              </a:r>
              <a:r>
                <a:rPr lang="en-US" altLang="zh-TW" sz="1200" b="1" dirty="0">
                  <a:solidFill>
                    <a:schemeClr val="tx1">
                      <a:lumMod val="85000"/>
                      <a:lumOff val="15000"/>
                    </a:schemeClr>
                  </a:solidFill>
                </a:rPr>
                <a:t>Test Plan &amp; </a:t>
              </a:r>
              <a:r>
                <a:rPr lang="en-US" altLang="zh-TW" sz="1200" b="1" dirty="0" smtClean="0">
                  <a:solidFill>
                    <a:schemeClr val="tx1">
                      <a:lumMod val="85000"/>
                      <a:lumOff val="15000"/>
                    </a:schemeClr>
                  </a:solidFill>
                </a:rPr>
                <a:t>firmware feature verification</a:t>
              </a:r>
              <a:endParaRPr lang="en-US" altLang="zh-TW" sz="1200" b="1" dirty="0">
                <a:solidFill>
                  <a:schemeClr val="tx1">
                    <a:lumMod val="85000"/>
                    <a:lumOff val="15000"/>
                  </a:schemeClr>
                </a:solidFill>
              </a:endParaRPr>
            </a:p>
            <a:p>
              <a:pPr marL="285750" indent="-285750" algn="just">
                <a:buFont typeface="Arial" panose="020B0604020202020204" pitchFamily="34" charset="0"/>
                <a:buChar char="•"/>
              </a:pPr>
              <a:r>
                <a:rPr lang="en-US" altLang="zh-TW" sz="1200" dirty="0">
                  <a:solidFill>
                    <a:schemeClr val="tx1">
                      <a:lumMod val="85000"/>
                      <a:lumOff val="15000"/>
                    </a:schemeClr>
                  </a:solidFill>
                </a:rPr>
                <a:t>Customize requirements &amp; Firmware debug</a:t>
              </a:r>
            </a:p>
            <a:p>
              <a:pPr marL="285750" indent="-285750" algn="just">
                <a:buFont typeface="Arial" panose="020B0604020202020204" pitchFamily="34" charset="0"/>
                <a:buChar char="•"/>
              </a:pPr>
              <a:r>
                <a:rPr lang="en-US" altLang="zh-TW" sz="1200" dirty="0">
                  <a:solidFill>
                    <a:schemeClr val="tx1">
                      <a:lumMod val="85000"/>
                      <a:lumOff val="15000"/>
                    </a:schemeClr>
                  </a:solidFill>
                </a:rPr>
                <a:t>Modularize features into Libraries for easier project management</a:t>
              </a:r>
            </a:p>
            <a:p>
              <a:pPr marL="285750" indent="-285750" algn="just">
                <a:buFont typeface="Arial" panose="020B0604020202020204" pitchFamily="34" charset="0"/>
                <a:buChar char="•"/>
              </a:pPr>
              <a:r>
                <a:rPr lang="en-US" altLang="zh-TW" sz="1200" dirty="0">
                  <a:solidFill>
                    <a:schemeClr val="tx1">
                      <a:lumMod val="85000"/>
                      <a:lumOff val="15000"/>
                    </a:schemeClr>
                  </a:solidFill>
                </a:rPr>
                <a:t>Develop automation scripts to improve working efficiency</a:t>
              </a:r>
            </a:p>
          </p:txBody>
        </p:sp>
        <p:sp>
          <p:nvSpPr>
            <p:cNvPr id="40" name="文字方塊 39"/>
            <p:cNvSpPr txBox="1"/>
            <p:nvPr/>
          </p:nvSpPr>
          <p:spPr>
            <a:xfrm>
              <a:off x="5143162" y="6878330"/>
              <a:ext cx="1591451" cy="307777"/>
            </a:xfrm>
            <a:prstGeom prst="rect">
              <a:avLst/>
            </a:prstGeom>
            <a:noFill/>
          </p:spPr>
          <p:txBody>
            <a:bodyPr wrap="square" rtlCol="0">
              <a:spAutoFit/>
            </a:bodyPr>
            <a:lstStyle/>
            <a:p>
              <a:r>
                <a:rPr lang="en-US" altLang="zh-TW" sz="1400" dirty="0">
                  <a:solidFill>
                    <a:schemeClr val="tx1">
                      <a:lumMod val="85000"/>
                      <a:lumOff val="15000"/>
                    </a:schemeClr>
                  </a:solidFill>
                </a:rPr>
                <a:t>01/2021 – 05/2024</a:t>
              </a:r>
            </a:p>
          </p:txBody>
        </p:sp>
      </p:grpSp>
      <p:grpSp>
        <p:nvGrpSpPr>
          <p:cNvPr id="3" name="群組 2"/>
          <p:cNvGrpSpPr/>
          <p:nvPr/>
        </p:nvGrpSpPr>
        <p:grpSpPr>
          <a:xfrm>
            <a:off x="730642" y="5503369"/>
            <a:ext cx="6013001" cy="1508106"/>
            <a:chOff x="760845" y="5342960"/>
            <a:chExt cx="6013001" cy="1508106"/>
          </a:xfrm>
        </p:grpSpPr>
        <p:sp>
          <p:nvSpPr>
            <p:cNvPr id="24" name="文字方塊 23"/>
            <p:cNvSpPr txBox="1"/>
            <p:nvPr/>
          </p:nvSpPr>
          <p:spPr>
            <a:xfrm>
              <a:off x="760845" y="5342960"/>
              <a:ext cx="4226154" cy="338554"/>
            </a:xfrm>
            <a:prstGeom prst="rect">
              <a:avLst/>
            </a:prstGeom>
            <a:noFill/>
          </p:spPr>
          <p:txBody>
            <a:bodyPr wrap="square" rtlCol="0">
              <a:spAutoFit/>
            </a:bodyPr>
            <a:lstStyle/>
            <a:p>
              <a:r>
                <a:rPr lang="en-US" altLang="zh-TW" sz="1600" b="1" dirty="0" smtClean="0">
                  <a:solidFill>
                    <a:schemeClr val="tx1">
                      <a:lumMod val="85000"/>
                      <a:lumOff val="15000"/>
                    </a:schemeClr>
                  </a:solidFill>
                </a:rPr>
                <a:t>Design Verification Engineer</a:t>
              </a:r>
              <a:r>
                <a:rPr lang="en-US" altLang="zh-TW" sz="1400" b="1" dirty="0" smtClean="0">
                  <a:solidFill>
                    <a:schemeClr val="tx1">
                      <a:lumMod val="85000"/>
                      <a:lumOff val="15000"/>
                    </a:schemeClr>
                  </a:solidFill>
                </a:rPr>
                <a:t>  </a:t>
              </a:r>
              <a:r>
                <a:rPr lang="en-US" altLang="zh-TW" sz="1400" dirty="0" smtClean="0">
                  <a:solidFill>
                    <a:schemeClr val="tx1">
                      <a:lumMod val="85000"/>
                      <a:lumOff val="15000"/>
                    </a:schemeClr>
                  </a:solidFill>
                </a:rPr>
                <a:t>|  </a:t>
              </a:r>
              <a:r>
                <a:rPr lang="en-US" altLang="zh-TW" sz="1400" dirty="0" err="1" smtClean="0">
                  <a:solidFill>
                    <a:schemeClr val="tx1">
                      <a:lumMod val="85000"/>
                      <a:lumOff val="15000"/>
                    </a:schemeClr>
                  </a:solidFill>
                </a:rPr>
                <a:t>Phison</a:t>
              </a:r>
              <a:r>
                <a:rPr lang="en-US" altLang="zh-TW" sz="1400" dirty="0" smtClean="0">
                  <a:solidFill>
                    <a:schemeClr val="tx1">
                      <a:lumMod val="85000"/>
                      <a:lumOff val="15000"/>
                    </a:schemeClr>
                  </a:solidFill>
                </a:rPr>
                <a:t> Electronics</a:t>
              </a:r>
              <a:endParaRPr lang="en-US" altLang="zh-TW" sz="1400" dirty="0">
                <a:solidFill>
                  <a:schemeClr val="tx1">
                    <a:lumMod val="85000"/>
                    <a:lumOff val="15000"/>
                  </a:schemeClr>
                </a:solidFill>
              </a:endParaRPr>
            </a:p>
          </p:txBody>
        </p:sp>
        <p:sp>
          <p:nvSpPr>
            <p:cNvPr id="25" name="文字方塊 24"/>
            <p:cNvSpPr txBox="1"/>
            <p:nvPr/>
          </p:nvSpPr>
          <p:spPr>
            <a:xfrm>
              <a:off x="775946" y="5650737"/>
              <a:ext cx="5802504" cy="1200329"/>
            </a:xfrm>
            <a:prstGeom prst="rect">
              <a:avLst/>
            </a:prstGeom>
            <a:noFill/>
          </p:spPr>
          <p:txBody>
            <a:bodyPr wrap="square" rtlCol="0">
              <a:spAutoFit/>
            </a:bodyPr>
            <a:lstStyle/>
            <a:p>
              <a:pPr marL="285750" indent="-285750" algn="just">
                <a:buFont typeface="Arial" panose="020B0604020202020204" pitchFamily="34" charset="0"/>
                <a:buChar char="•"/>
              </a:pPr>
              <a:r>
                <a:rPr lang="en-US" altLang="zh-TW" sz="1200" dirty="0">
                  <a:solidFill>
                    <a:schemeClr val="tx1">
                      <a:lumMod val="85000"/>
                      <a:lumOff val="15000"/>
                    </a:schemeClr>
                  </a:solidFill>
                </a:rPr>
                <a:t>UFS underlying IP (</a:t>
              </a:r>
              <a:r>
                <a:rPr lang="en-US" altLang="zh-TW" sz="1200" b="1" dirty="0" err="1">
                  <a:solidFill>
                    <a:schemeClr val="tx1">
                      <a:lumMod val="85000"/>
                      <a:lumOff val="15000"/>
                    </a:schemeClr>
                  </a:solidFill>
                  <a:hlinkClick r:id="rId3"/>
                </a:rPr>
                <a:t>Unipro</a:t>
              </a:r>
              <a:r>
                <a:rPr lang="en-US" altLang="zh-TW" sz="1200" dirty="0">
                  <a:solidFill>
                    <a:schemeClr val="tx1">
                      <a:lumMod val="85000"/>
                      <a:lumOff val="15000"/>
                    </a:schemeClr>
                  </a:solidFill>
                </a:rPr>
                <a:t>) design verification</a:t>
              </a:r>
            </a:p>
            <a:p>
              <a:pPr marL="285750" indent="-285750" algn="just">
                <a:buFont typeface="Arial" panose="020B0604020202020204" pitchFamily="34" charset="0"/>
                <a:buChar char="•"/>
              </a:pPr>
              <a:r>
                <a:rPr lang="en-US" altLang="zh-TW" sz="1200" dirty="0">
                  <a:solidFill>
                    <a:schemeClr val="tx1">
                      <a:lumMod val="85000"/>
                      <a:lumOff val="15000"/>
                    </a:schemeClr>
                  </a:solidFill>
                </a:rPr>
                <a:t>Develop UVM environment for DUT</a:t>
              </a:r>
            </a:p>
            <a:p>
              <a:pPr marL="285750" indent="-285750" algn="just">
                <a:buFont typeface="Arial" panose="020B0604020202020204" pitchFamily="34" charset="0"/>
                <a:buChar char="•"/>
              </a:pPr>
              <a:r>
                <a:rPr lang="en-US" altLang="zh-TW" sz="1200" dirty="0">
                  <a:solidFill>
                    <a:schemeClr val="tx1">
                      <a:lumMod val="85000"/>
                      <a:lumOff val="15000"/>
                    </a:schemeClr>
                  </a:solidFill>
                </a:rPr>
                <a:t>Formal Property Verification (</a:t>
              </a:r>
              <a:r>
                <a:rPr lang="en-US" altLang="zh-TW" sz="1200" b="1" dirty="0">
                  <a:solidFill>
                    <a:schemeClr val="tx1">
                      <a:lumMod val="85000"/>
                      <a:lumOff val="15000"/>
                    </a:schemeClr>
                  </a:solidFill>
                </a:rPr>
                <a:t>FPV</a:t>
              </a:r>
              <a:r>
                <a:rPr lang="en-US" altLang="zh-TW" sz="1200" dirty="0">
                  <a:solidFill>
                    <a:schemeClr val="tx1">
                      <a:lumMod val="85000"/>
                      <a:lumOff val="15000"/>
                    </a:schemeClr>
                  </a:solidFill>
                </a:rPr>
                <a:t>)</a:t>
              </a:r>
            </a:p>
            <a:p>
              <a:pPr marL="285750" indent="-285750" algn="just">
                <a:buFont typeface="Arial" panose="020B0604020202020204" pitchFamily="34" charset="0"/>
                <a:buChar char="•"/>
              </a:pPr>
              <a:r>
                <a:rPr lang="en-US" altLang="zh-TW" sz="1200" dirty="0">
                  <a:solidFill>
                    <a:schemeClr val="tx1">
                      <a:lumMod val="85000"/>
                      <a:lumOff val="15000"/>
                    </a:schemeClr>
                  </a:solidFill>
                </a:rPr>
                <a:t>Design test plans and </a:t>
              </a:r>
              <a:r>
                <a:rPr lang="en-US" altLang="zh-TW" sz="1200" dirty="0" err="1" smtClean="0">
                  <a:solidFill>
                    <a:schemeClr val="tx1">
                      <a:lumMod val="85000"/>
                      <a:lumOff val="15000"/>
                    </a:schemeClr>
                  </a:solidFill>
                </a:rPr>
                <a:t>testvectors</a:t>
              </a:r>
              <a:endParaRPr lang="en-US" altLang="zh-TW" sz="1200" dirty="0" smtClean="0">
                <a:solidFill>
                  <a:schemeClr val="tx1">
                    <a:lumMod val="85000"/>
                    <a:lumOff val="15000"/>
                  </a:schemeClr>
                </a:solidFill>
              </a:endParaRPr>
            </a:p>
            <a:p>
              <a:pPr marL="285750" indent="-285750" algn="just">
                <a:buFont typeface="Arial" panose="020B0604020202020204" pitchFamily="34" charset="0"/>
                <a:buChar char="•"/>
              </a:pPr>
              <a:r>
                <a:rPr lang="en-US" altLang="zh-TW" sz="1200" dirty="0" smtClean="0">
                  <a:solidFill>
                    <a:schemeClr val="tx1">
                      <a:lumMod val="85000"/>
                      <a:lumOff val="15000"/>
                    </a:schemeClr>
                  </a:solidFill>
                </a:rPr>
                <a:t>Discuss </a:t>
              </a:r>
              <a:r>
                <a:rPr lang="en-US" altLang="zh-TW" sz="1200" dirty="0">
                  <a:solidFill>
                    <a:schemeClr val="tx1">
                      <a:lumMod val="85000"/>
                      <a:lumOff val="15000"/>
                    </a:schemeClr>
                  </a:solidFill>
                </a:rPr>
                <a:t>and modify test plans with international clients</a:t>
              </a:r>
            </a:p>
            <a:p>
              <a:pPr marL="285750" indent="-285750" algn="just">
                <a:buFont typeface="Arial" panose="020B0604020202020204" pitchFamily="34" charset="0"/>
                <a:buChar char="•"/>
              </a:pPr>
              <a:r>
                <a:rPr lang="en-US" altLang="zh-TW" sz="1200" dirty="0">
                  <a:solidFill>
                    <a:schemeClr val="tx1">
                      <a:lumMod val="85000"/>
                      <a:lumOff val="15000"/>
                    </a:schemeClr>
                  </a:solidFill>
                </a:rPr>
                <a:t>Verifying in-house DUTs and collaborating with designers on debugging</a:t>
              </a:r>
            </a:p>
          </p:txBody>
        </p:sp>
        <p:sp>
          <p:nvSpPr>
            <p:cNvPr id="41" name="文字方塊 40"/>
            <p:cNvSpPr txBox="1"/>
            <p:nvPr/>
          </p:nvSpPr>
          <p:spPr>
            <a:xfrm>
              <a:off x="5182395" y="5358348"/>
              <a:ext cx="1591451" cy="307777"/>
            </a:xfrm>
            <a:prstGeom prst="rect">
              <a:avLst/>
            </a:prstGeom>
            <a:noFill/>
          </p:spPr>
          <p:txBody>
            <a:bodyPr wrap="square" rtlCol="0">
              <a:spAutoFit/>
            </a:bodyPr>
            <a:lstStyle/>
            <a:p>
              <a:r>
                <a:rPr lang="en-US" altLang="zh-TW" sz="1400" dirty="0">
                  <a:solidFill>
                    <a:schemeClr val="tx1">
                      <a:lumMod val="85000"/>
                      <a:lumOff val="15000"/>
                    </a:schemeClr>
                  </a:solidFill>
                </a:rPr>
                <a:t>06/2024 </a:t>
              </a:r>
              <a:r>
                <a:rPr lang="en-US" altLang="zh-TW" sz="1400" dirty="0" smtClean="0">
                  <a:solidFill>
                    <a:schemeClr val="tx1">
                      <a:lumMod val="85000"/>
                      <a:lumOff val="15000"/>
                    </a:schemeClr>
                  </a:solidFill>
                </a:rPr>
                <a:t>– 08/2025</a:t>
              </a:r>
              <a:endParaRPr lang="en-US" altLang="zh-TW" sz="1400" dirty="0">
                <a:solidFill>
                  <a:schemeClr val="tx1">
                    <a:lumMod val="85000"/>
                    <a:lumOff val="15000"/>
                  </a:schemeClr>
                </a:solidFill>
              </a:endParaRPr>
            </a:p>
          </p:txBody>
        </p:sp>
      </p:grpSp>
      <p:grpSp>
        <p:nvGrpSpPr>
          <p:cNvPr id="46" name="群組 45"/>
          <p:cNvGrpSpPr/>
          <p:nvPr/>
        </p:nvGrpSpPr>
        <p:grpSpPr>
          <a:xfrm>
            <a:off x="4143054" y="1061593"/>
            <a:ext cx="2292209" cy="253916"/>
            <a:chOff x="4260677" y="532806"/>
            <a:chExt cx="2292209" cy="253916"/>
          </a:xfrm>
        </p:grpSpPr>
        <p:sp>
          <p:nvSpPr>
            <p:cNvPr id="32" name="文字方塊 31"/>
            <p:cNvSpPr txBox="1"/>
            <p:nvPr/>
          </p:nvSpPr>
          <p:spPr>
            <a:xfrm>
              <a:off x="4476677" y="532806"/>
              <a:ext cx="2076209" cy="253916"/>
            </a:xfrm>
            <a:prstGeom prst="rect">
              <a:avLst/>
            </a:prstGeom>
            <a:noFill/>
          </p:spPr>
          <p:txBody>
            <a:bodyPr wrap="none" rtlCol="0">
              <a:spAutoFit/>
            </a:bodyPr>
            <a:lstStyle/>
            <a:p>
              <a:r>
                <a:rPr lang="en-US" altLang="zh-TW" sz="1050" dirty="0">
                  <a:solidFill>
                    <a:schemeClr val="tx1">
                      <a:lumMod val="85000"/>
                      <a:lumOff val="15000"/>
                    </a:schemeClr>
                  </a:solidFill>
                  <a:latin typeface="微軟正黑體" panose="020B0604030504040204" pitchFamily="34" charset="-120"/>
                  <a:ea typeface="微軟正黑體" panose="020B0604030504040204" pitchFamily="34" charset="-120"/>
                  <a:hlinkClick r:id="rId4"/>
                </a:rPr>
                <a:t>https://pkhuang-tw.github.io</a:t>
              </a:r>
              <a:r>
                <a:rPr lang="en-US" altLang="zh-TW" sz="1050" dirty="0" smtClean="0">
                  <a:solidFill>
                    <a:schemeClr val="tx1">
                      <a:lumMod val="85000"/>
                      <a:lumOff val="15000"/>
                    </a:schemeClr>
                  </a:solidFill>
                  <a:latin typeface="微軟正黑體" panose="020B0604030504040204" pitchFamily="34" charset="-120"/>
                  <a:ea typeface="微軟正黑體" panose="020B0604030504040204" pitchFamily="34" charset="-120"/>
                  <a:hlinkClick r:id="rId4"/>
                </a:rPr>
                <a:t>/</a:t>
              </a:r>
              <a:endParaRPr lang="en-US" altLang="zh-TW" sz="1050" dirty="0" smtClean="0">
                <a:solidFill>
                  <a:schemeClr val="tx1">
                    <a:lumMod val="85000"/>
                    <a:lumOff val="15000"/>
                  </a:schemeClr>
                </a:solidFill>
                <a:latin typeface="微軟正黑體" panose="020B0604030504040204" pitchFamily="34" charset="-120"/>
                <a:ea typeface="微軟正黑體" panose="020B0604030504040204" pitchFamily="34" charset="-120"/>
              </a:endParaRPr>
            </a:p>
          </p:txBody>
        </p:sp>
        <p:pic>
          <p:nvPicPr>
            <p:cNvPr id="6" name="圖片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60677" y="551764"/>
              <a:ext cx="216000" cy="216000"/>
            </a:xfrm>
            <a:prstGeom prst="rect">
              <a:avLst/>
            </a:prstGeom>
          </p:spPr>
        </p:pic>
      </p:grpSp>
      <p:grpSp>
        <p:nvGrpSpPr>
          <p:cNvPr id="45" name="群組 44"/>
          <p:cNvGrpSpPr/>
          <p:nvPr/>
        </p:nvGrpSpPr>
        <p:grpSpPr>
          <a:xfrm>
            <a:off x="4143054" y="1425742"/>
            <a:ext cx="2482967" cy="253916"/>
            <a:chOff x="4260677" y="865082"/>
            <a:chExt cx="2482967" cy="253916"/>
          </a:xfrm>
        </p:grpSpPr>
        <p:sp>
          <p:nvSpPr>
            <p:cNvPr id="33" name="文字方塊 32"/>
            <p:cNvSpPr txBox="1"/>
            <p:nvPr/>
          </p:nvSpPr>
          <p:spPr>
            <a:xfrm>
              <a:off x="4476677" y="865082"/>
              <a:ext cx="2266967" cy="253916"/>
            </a:xfrm>
            <a:prstGeom prst="rect">
              <a:avLst/>
            </a:prstGeom>
            <a:noFill/>
          </p:spPr>
          <p:txBody>
            <a:bodyPr wrap="none" rtlCol="0">
              <a:spAutoFit/>
            </a:bodyPr>
            <a:lstStyle/>
            <a:p>
              <a:r>
                <a:rPr lang="en-US" altLang="zh-TW" sz="1050" dirty="0">
                  <a:solidFill>
                    <a:schemeClr val="tx1">
                      <a:lumMod val="85000"/>
                      <a:lumOff val="15000"/>
                    </a:schemeClr>
                  </a:solidFill>
                  <a:latin typeface="微軟正黑體" panose="020B0604030504040204" pitchFamily="34" charset="-120"/>
                  <a:ea typeface="微軟正黑體" panose="020B0604030504040204" pitchFamily="34" charset="-120"/>
                  <a:hlinkClick r:id="rId6"/>
                </a:rPr>
                <a:t>https://github.com/PKhuang-TW</a:t>
              </a:r>
              <a:endParaRPr lang="en-US" altLang="zh-TW" sz="1050" dirty="0">
                <a:solidFill>
                  <a:schemeClr val="tx1">
                    <a:lumMod val="85000"/>
                    <a:lumOff val="15000"/>
                  </a:schemeClr>
                </a:solidFill>
                <a:latin typeface="微軟正黑體" panose="020B0604030504040204" pitchFamily="34" charset="-120"/>
                <a:ea typeface="微軟正黑體" panose="020B0604030504040204" pitchFamily="34" charset="-120"/>
              </a:endParaRPr>
            </a:p>
          </p:txBody>
        </p:sp>
        <p:pic>
          <p:nvPicPr>
            <p:cNvPr id="8" name="圖片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260677" y="884040"/>
              <a:ext cx="216000" cy="216000"/>
            </a:xfrm>
            <a:prstGeom prst="rect">
              <a:avLst/>
            </a:prstGeom>
          </p:spPr>
        </p:pic>
      </p:grpSp>
      <p:grpSp>
        <p:nvGrpSpPr>
          <p:cNvPr id="12" name="群組 11"/>
          <p:cNvGrpSpPr/>
          <p:nvPr/>
        </p:nvGrpSpPr>
        <p:grpSpPr>
          <a:xfrm>
            <a:off x="541820" y="333297"/>
            <a:ext cx="2012562" cy="932643"/>
            <a:chOff x="562195" y="232280"/>
            <a:chExt cx="2012562" cy="932643"/>
          </a:xfrm>
        </p:grpSpPr>
        <p:sp>
          <p:nvSpPr>
            <p:cNvPr id="7" name="矩形 6"/>
            <p:cNvSpPr/>
            <p:nvPr/>
          </p:nvSpPr>
          <p:spPr>
            <a:xfrm>
              <a:off x="562195" y="232280"/>
              <a:ext cx="1844329" cy="450884"/>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TW" sz="3200" b="1" dirty="0" smtClean="0">
                  <a:solidFill>
                    <a:schemeClr val="tx1">
                      <a:lumMod val="85000"/>
                      <a:lumOff val="15000"/>
                    </a:schemeClr>
                  </a:solidFill>
                  <a:latin typeface="Arial Black" panose="020B0A04020102020204" pitchFamily="34" charset="0"/>
                  <a:ea typeface="微軟正黑體" panose="020B0604030504040204" pitchFamily="34" charset="-120"/>
                </a:rPr>
                <a:t>POKAI</a:t>
              </a:r>
            </a:p>
          </p:txBody>
        </p:sp>
        <p:sp>
          <p:nvSpPr>
            <p:cNvPr id="42" name="矩形 41"/>
            <p:cNvSpPr/>
            <p:nvPr/>
          </p:nvSpPr>
          <p:spPr>
            <a:xfrm>
              <a:off x="562195" y="714039"/>
              <a:ext cx="2012562" cy="450884"/>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TW" sz="3200" b="1" dirty="0" smtClean="0">
                  <a:solidFill>
                    <a:schemeClr val="tx1">
                      <a:lumMod val="85000"/>
                      <a:lumOff val="15000"/>
                    </a:schemeClr>
                  </a:solidFill>
                  <a:latin typeface="Arial Black" panose="020B0A04020102020204" pitchFamily="34" charset="0"/>
                  <a:ea typeface="微軟正黑體" panose="020B0604030504040204" pitchFamily="34" charset="-120"/>
                </a:rPr>
                <a:t>HUANG</a:t>
              </a:r>
            </a:p>
          </p:txBody>
        </p:sp>
      </p:grpSp>
      <p:grpSp>
        <p:nvGrpSpPr>
          <p:cNvPr id="27" name="群組 26"/>
          <p:cNvGrpSpPr/>
          <p:nvPr/>
        </p:nvGrpSpPr>
        <p:grpSpPr>
          <a:xfrm>
            <a:off x="4143054" y="697445"/>
            <a:ext cx="2139925" cy="253916"/>
            <a:chOff x="4260677" y="1654234"/>
            <a:chExt cx="2139925" cy="253916"/>
          </a:xfrm>
        </p:grpSpPr>
        <p:sp>
          <p:nvSpPr>
            <p:cNvPr id="43" name="文字方塊 42"/>
            <p:cNvSpPr txBox="1"/>
            <p:nvPr/>
          </p:nvSpPr>
          <p:spPr>
            <a:xfrm>
              <a:off x="4476677" y="1654234"/>
              <a:ext cx="1923925" cy="253916"/>
            </a:xfrm>
            <a:prstGeom prst="rect">
              <a:avLst/>
            </a:prstGeom>
            <a:noFill/>
          </p:spPr>
          <p:txBody>
            <a:bodyPr wrap="none" rtlCol="0">
              <a:spAutoFit/>
            </a:bodyPr>
            <a:lstStyle/>
            <a:p>
              <a:r>
                <a:rPr lang="en-US" altLang="zh-TW" sz="1050" dirty="0" smtClean="0">
                  <a:solidFill>
                    <a:schemeClr val="tx1">
                      <a:lumMod val="85000"/>
                      <a:lumOff val="15000"/>
                    </a:schemeClr>
                  </a:solidFill>
                  <a:latin typeface="微軟正黑體" panose="020B0604030504040204" pitchFamily="34" charset="-120"/>
                  <a:ea typeface="微軟正黑體" panose="020B0604030504040204" pitchFamily="34" charset="-120"/>
                  <a:hlinkClick r:id="rId8"/>
                </a:rPr>
                <a:t>pokaihuang.tw@gmail.com</a:t>
              </a:r>
              <a:endParaRPr lang="en-US" altLang="zh-TW" sz="1050" dirty="0" smtClean="0">
                <a:solidFill>
                  <a:schemeClr val="tx1">
                    <a:lumMod val="85000"/>
                    <a:lumOff val="15000"/>
                  </a:schemeClr>
                </a:solidFill>
                <a:latin typeface="微軟正黑體" panose="020B0604030504040204" pitchFamily="34" charset="-120"/>
                <a:ea typeface="微軟正黑體" panose="020B0604030504040204" pitchFamily="34" charset="-120"/>
              </a:endParaRPr>
            </a:p>
          </p:txBody>
        </p:sp>
        <p:pic>
          <p:nvPicPr>
            <p:cNvPr id="14" name="圖片 1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260677" y="1673192"/>
              <a:ext cx="216000" cy="216000"/>
            </a:xfrm>
            <a:prstGeom prst="rect">
              <a:avLst/>
            </a:prstGeom>
          </p:spPr>
        </p:pic>
      </p:grpSp>
      <p:grpSp>
        <p:nvGrpSpPr>
          <p:cNvPr id="16" name="群組 15"/>
          <p:cNvGrpSpPr/>
          <p:nvPr/>
        </p:nvGrpSpPr>
        <p:grpSpPr>
          <a:xfrm>
            <a:off x="4143054" y="333297"/>
            <a:ext cx="1186137" cy="253916"/>
            <a:chOff x="4260677" y="1351241"/>
            <a:chExt cx="1186137" cy="253916"/>
          </a:xfrm>
        </p:grpSpPr>
        <p:pic>
          <p:nvPicPr>
            <p:cNvPr id="15" name="圖片 1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260677" y="1370199"/>
              <a:ext cx="216000" cy="216000"/>
            </a:xfrm>
            <a:prstGeom prst="rect">
              <a:avLst/>
            </a:prstGeom>
          </p:spPr>
        </p:pic>
        <p:sp>
          <p:nvSpPr>
            <p:cNvPr id="44" name="文字方塊 43"/>
            <p:cNvSpPr txBox="1"/>
            <p:nvPr/>
          </p:nvSpPr>
          <p:spPr>
            <a:xfrm>
              <a:off x="4476677" y="1351241"/>
              <a:ext cx="970137" cy="253916"/>
            </a:xfrm>
            <a:prstGeom prst="rect">
              <a:avLst/>
            </a:prstGeom>
            <a:noFill/>
          </p:spPr>
          <p:txBody>
            <a:bodyPr wrap="none" rtlCol="0">
              <a:spAutoFit/>
            </a:bodyPr>
            <a:lstStyle/>
            <a:p>
              <a:r>
                <a:rPr lang="en-US" altLang="zh-TW" sz="1050" dirty="0">
                  <a:solidFill>
                    <a:schemeClr val="tx1">
                      <a:lumMod val="85000"/>
                      <a:lumOff val="15000"/>
                    </a:schemeClr>
                  </a:solidFill>
                  <a:latin typeface="微軟正黑體" panose="020B0604030504040204" pitchFamily="34" charset="-120"/>
                  <a:ea typeface="微軟正黑體" panose="020B0604030504040204" pitchFamily="34" charset="-120"/>
                </a:rPr>
                <a:t>0932732142</a:t>
              </a:r>
              <a:endParaRPr lang="en-US" altLang="zh-TW" sz="1050" dirty="0" smtClean="0">
                <a:solidFill>
                  <a:schemeClr val="tx1">
                    <a:lumMod val="85000"/>
                    <a:lumOff val="15000"/>
                  </a:schemeClr>
                </a:solidFill>
                <a:latin typeface="微軟正黑體" panose="020B0604030504040204" pitchFamily="34" charset="-120"/>
                <a:ea typeface="微軟正黑體" panose="020B0604030504040204" pitchFamily="34" charset="-120"/>
              </a:endParaRPr>
            </a:p>
          </p:txBody>
        </p:sp>
      </p:grpSp>
      <p:grpSp>
        <p:nvGrpSpPr>
          <p:cNvPr id="2" name="群組 1"/>
          <p:cNvGrpSpPr/>
          <p:nvPr/>
        </p:nvGrpSpPr>
        <p:grpSpPr>
          <a:xfrm>
            <a:off x="730642" y="4223789"/>
            <a:ext cx="6013001" cy="1294423"/>
            <a:chOff x="775946" y="4252660"/>
            <a:chExt cx="6013001" cy="1294423"/>
          </a:xfrm>
        </p:grpSpPr>
        <p:sp>
          <p:nvSpPr>
            <p:cNvPr id="47" name="文字方塊 46"/>
            <p:cNvSpPr txBox="1"/>
            <p:nvPr/>
          </p:nvSpPr>
          <p:spPr>
            <a:xfrm>
              <a:off x="775946" y="4252660"/>
              <a:ext cx="4081988" cy="338554"/>
            </a:xfrm>
            <a:prstGeom prst="rect">
              <a:avLst/>
            </a:prstGeom>
            <a:noFill/>
          </p:spPr>
          <p:txBody>
            <a:bodyPr wrap="square" rtlCol="0">
              <a:spAutoFit/>
            </a:bodyPr>
            <a:lstStyle/>
            <a:p>
              <a:r>
                <a:rPr lang="en-US" altLang="zh-TW" sz="1600" b="1" dirty="0" smtClean="0">
                  <a:solidFill>
                    <a:schemeClr val="tx1">
                      <a:lumMod val="85000"/>
                      <a:lumOff val="15000"/>
                    </a:schemeClr>
                  </a:solidFill>
                </a:rPr>
                <a:t>Design Verification Engineer</a:t>
              </a:r>
              <a:r>
                <a:rPr lang="en-US" altLang="zh-TW" sz="1400" b="1" dirty="0" smtClean="0">
                  <a:solidFill>
                    <a:schemeClr val="tx1">
                      <a:lumMod val="85000"/>
                      <a:lumOff val="15000"/>
                    </a:schemeClr>
                  </a:solidFill>
                </a:rPr>
                <a:t>  </a:t>
              </a:r>
              <a:r>
                <a:rPr lang="en-US" altLang="zh-TW" sz="1400" dirty="0" smtClean="0">
                  <a:solidFill>
                    <a:schemeClr val="tx1">
                      <a:lumMod val="85000"/>
                      <a:lumOff val="15000"/>
                    </a:schemeClr>
                  </a:solidFill>
                </a:rPr>
                <a:t>|  </a:t>
              </a:r>
              <a:r>
                <a:rPr lang="en-US" altLang="zh-TW" sz="1400" dirty="0" err="1" smtClean="0">
                  <a:solidFill>
                    <a:schemeClr val="tx1">
                      <a:lumMod val="85000"/>
                      <a:lumOff val="15000"/>
                    </a:schemeClr>
                  </a:solidFill>
                </a:rPr>
                <a:t>Realtek</a:t>
              </a:r>
              <a:endParaRPr lang="en-US" altLang="zh-TW" sz="1400" dirty="0">
                <a:solidFill>
                  <a:schemeClr val="tx1">
                    <a:lumMod val="85000"/>
                    <a:lumOff val="15000"/>
                  </a:schemeClr>
                </a:solidFill>
              </a:endParaRPr>
            </a:p>
          </p:txBody>
        </p:sp>
        <p:sp>
          <p:nvSpPr>
            <p:cNvPr id="49" name="文字方塊 48"/>
            <p:cNvSpPr txBox="1"/>
            <p:nvPr/>
          </p:nvSpPr>
          <p:spPr>
            <a:xfrm>
              <a:off x="5197496" y="4268048"/>
              <a:ext cx="1591451" cy="307777"/>
            </a:xfrm>
            <a:prstGeom prst="rect">
              <a:avLst/>
            </a:prstGeom>
            <a:noFill/>
          </p:spPr>
          <p:txBody>
            <a:bodyPr wrap="square" rtlCol="0">
              <a:spAutoFit/>
            </a:bodyPr>
            <a:lstStyle/>
            <a:p>
              <a:r>
                <a:rPr lang="en-US" altLang="zh-TW" sz="1400" dirty="0" smtClean="0">
                  <a:solidFill>
                    <a:schemeClr val="tx1">
                      <a:lumMod val="85000"/>
                      <a:lumOff val="15000"/>
                    </a:schemeClr>
                  </a:solidFill>
                </a:rPr>
                <a:t>09/2025 – Present</a:t>
              </a:r>
              <a:endParaRPr lang="en-US" altLang="zh-TW" sz="1400" dirty="0">
                <a:solidFill>
                  <a:schemeClr val="tx1">
                    <a:lumMod val="85000"/>
                    <a:lumOff val="15000"/>
                  </a:schemeClr>
                </a:solidFill>
              </a:endParaRPr>
            </a:p>
          </p:txBody>
        </p:sp>
        <p:sp>
          <p:nvSpPr>
            <p:cNvPr id="50" name="文字方塊 49"/>
            <p:cNvSpPr txBox="1"/>
            <p:nvPr/>
          </p:nvSpPr>
          <p:spPr>
            <a:xfrm>
              <a:off x="775946" y="4531420"/>
              <a:ext cx="5802504" cy="1015663"/>
            </a:xfrm>
            <a:prstGeom prst="rect">
              <a:avLst/>
            </a:prstGeom>
            <a:noFill/>
          </p:spPr>
          <p:txBody>
            <a:bodyPr wrap="square" rtlCol="0">
              <a:spAutoFit/>
            </a:bodyPr>
            <a:lstStyle/>
            <a:p>
              <a:pPr marL="285750" indent="-285750" algn="just">
                <a:buFont typeface="Arial" panose="020B0604020202020204" pitchFamily="34" charset="0"/>
                <a:buChar char="•"/>
              </a:pPr>
              <a:r>
                <a:rPr lang="en-US" altLang="zh-TW" sz="1200" dirty="0" smtClean="0">
                  <a:solidFill>
                    <a:schemeClr val="tx1">
                      <a:lumMod val="85000"/>
                      <a:lumOff val="15000"/>
                    </a:schemeClr>
                  </a:solidFill>
                </a:rPr>
                <a:t>Solely </a:t>
              </a:r>
              <a:r>
                <a:rPr lang="en-US" altLang="zh-TW" sz="1200" dirty="0">
                  <a:solidFill>
                    <a:schemeClr val="tx1">
                      <a:lumMod val="85000"/>
                      <a:lumOff val="15000"/>
                    </a:schemeClr>
                  </a:solidFill>
                </a:rPr>
                <a:t>responsible for the verification of the </a:t>
              </a:r>
              <a:r>
                <a:rPr lang="en-US" altLang="zh-TW" sz="1200" b="1" dirty="0">
                  <a:solidFill>
                    <a:schemeClr val="tx1">
                      <a:lumMod val="85000"/>
                      <a:lumOff val="15000"/>
                    </a:schemeClr>
                  </a:solidFill>
                  <a:hlinkClick r:id="rId11"/>
                </a:rPr>
                <a:t>CSI-2</a:t>
              </a:r>
              <a:r>
                <a:rPr lang="en-US" altLang="zh-TW" sz="1200" dirty="0" smtClean="0">
                  <a:solidFill>
                    <a:schemeClr val="tx1">
                      <a:lumMod val="85000"/>
                      <a:lumOff val="15000"/>
                    </a:schemeClr>
                  </a:solidFill>
                </a:rPr>
                <a:t> </a:t>
              </a:r>
              <a:r>
                <a:rPr lang="en-US" altLang="zh-TW" sz="1200" dirty="0">
                  <a:solidFill>
                    <a:schemeClr val="tx1">
                      <a:lumMod val="85000"/>
                      <a:lumOff val="15000"/>
                    </a:schemeClr>
                  </a:solidFill>
                </a:rPr>
                <a:t>DUT</a:t>
              </a:r>
            </a:p>
            <a:p>
              <a:pPr marL="285750" indent="-285750" algn="just">
                <a:buFont typeface="Arial" panose="020B0604020202020204" pitchFamily="34" charset="0"/>
                <a:buChar char="•"/>
              </a:pPr>
              <a:r>
                <a:rPr lang="en-US" altLang="zh-TW" sz="1200" dirty="0" smtClean="0">
                  <a:solidFill>
                    <a:schemeClr val="tx1">
                      <a:lumMod val="85000"/>
                      <a:lumOff val="15000"/>
                    </a:schemeClr>
                  </a:solidFill>
                </a:rPr>
                <a:t>Design </a:t>
              </a:r>
              <a:r>
                <a:rPr lang="en-US" altLang="zh-TW" sz="1200" dirty="0">
                  <a:solidFill>
                    <a:schemeClr val="tx1">
                      <a:lumMod val="85000"/>
                      <a:lumOff val="15000"/>
                    </a:schemeClr>
                  </a:solidFill>
                </a:rPr>
                <a:t>test plan &amp; test patterns</a:t>
              </a:r>
            </a:p>
            <a:p>
              <a:pPr marL="285750" indent="-285750" algn="just">
                <a:buFont typeface="Arial" panose="020B0604020202020204" pitchFamily="34" charset="0"/>
                <a:buChar char="•"/>
              </a:pPr>
              <a:r>
                <a:rPr lang="en-US" altLang="zh-TW" sz="1200" dirty="0" smtClean="0">
                  <a:solidFill>
                    <a:schemeClr val="tx1">
                      <a:lumMod val="85000"/>
                      <a:lumOff val="15000"/>
                    </a:schemeClr>
                  </a:solidFill>
                </a:rPr>
                <a:t>Integrated </a:t>
              </a:r>
              <a:r>
                <a:rPr lang="en-US" altLang="zh-TW" sz="1200" dirty="0">
                  <a:solidFill>
                    <a:schemeClr val="tx1">
                      <a:lumMod val="85000"/>
                      <a:lumOff val="15000"/>
                    </a:schemeClr>
                  </a:solidFill>
                </a:rPr>
                <a:t>VIP into the UVM architecture tailored for the in-house DUT</a:t>
              </a:r>
            </a:p>
            <a:p>
              <a:pPr marL="285750" indent="-285750" algn="just">
                <a:buFont typeface="Arial" panose="020B0604020202020204" pitchFamily="34" charset="0"/>
                <a:buChar char="•"/>
              </a:pPr>
              <a:r>
                <a:rPr lang="en-US" altLang="zh-TW" sz="1200" dirty="0" smtClean="0">
                  <a:solidFill>
                    <a:schemeClr val="tx1">
                      <a:lumMod val="85000"/>
                      <a:lumOff val="15000"/>
                    </a:schemeClr>
                  </a:solidFill>
                </a:rPr>
                <a:t>Collaborate </a:t>
              </a:r>
              <a:r>
                <a:rPr lang="en-US" altLang="zh-TW" sz="1200" dirty="0">
                  <a:solidFill>
                    <a:schemeClr val="tx1">
                      <a:lumMod val="85000"/>
                      <a:lumOff val="15000"/>
                    </a:schemeClr>
                  </a:solidFill>
                </a:rPr>
                <a:t>with designers on debugging and discussing coverage enhancement</a:t>
              </a:r>
            </a:p>
            <a:p>
              <a:pPr marL="285750" indent="-285750" algn="just">
                <a:buFont typeface="Arial" panose="020B0604020202020204" pitchFamily="34" charset="0"/>
                <a:buChar char="•"/>
              </a:pPr>
              <a:r>
                <a:rPr lang="en-US" altLang="zh-TW" sz="1200" dirty="0" smtClean="0">
                  <a:solidFill>
                    <a:schemeClr val="tx1">
                      <a:lumMod val="85000"/>
                      <a:lumOff val="15000"/>
                    </a:schemeClr>
                  </a:solidFill>
                </a:rPr>
                <a:t>Establish </a:t>
              </a:r>
              <a:r>
                <a:rPr lang="en-US" altLang="zh-TW" sz="1200" b="1" dirty="0" smtClean="0">
                  <a:solidFill>
                    <a:schemeClr val="tx1">
                      <a:lumMod val="85000"/>
                      <a:lumOff val="15000"/>
                    </a:schemeClr>
                  </a:solidFill>
                </a:rPr>
                <a:t>GLS</a:t>
              </a:r>
              <a:r>
                <a:rPr lang="en-US" altLang="zh-TW" sz="1200" dirty="0" smtClean="0">
                  <a:solidFill>
                    <a:schemeClr val="tx1">
                      <a:lumMod val="85000"/>
                      <a:lumOff val="15000"/>
                    </a:schemeClr>
                  </a:solidFill>
                </a:rPr>
                <a:t> </a:t>
              </a:r>
              <a:r>
                <a:rPr lang="en-US" altLang="zh-TW" sz="1200" dirty="0">
                  <a:solidFill>
                    <a:schemeClr val="tx1">
                      <a:lumMod val="85000"/>
                      <a:lumOff val="15000"/>
                    </a:schemeClr>
                  </a:solidFill>
                </a:rPr>
                <a:t>environment and provide results to designers for </a:t>
              </a:r>
              <a:r>
                <a:rPr lang="en-US" altLang="zh-TW" sz="1200" dirty="0" smtClean="0">
                  <a:solidFill>
                    <a:schemeClr val="tx1">
                      <a:lumMod val="85000"/>
                      <a:lumOff val="15000"/>
                    </a:schemeClr>
                  </a:solidFill>
                </a:rPr>
                <a:t>debugging</a:t>
              </a:r>
              <a:endParaRPr lang="en-US" altLang="zh-TW" sz="1200" dirty="0">
                <a:solidFill>
                  <a:schemeClr val="tx1">
                    <a:lumMod val="85000"/>
                    <a:lumOff val="15000"/>
                  </a:schemeClr>
                </a:solidFill>
              </a:endParaRPr>
            </a:p>
          </p:txBody>
        </p:sp>
      </p:grpSp>
    </p:spTree>
    <p:extLst>
      <p:ext uri="{BB962C8B-B14F-4D97-AF65-F5344CB8AC3E}">
        <p14:creationId xmlns:p14="http://schemas.microsoft.com/office/powerpoint/2010/main" val="1918949798"/>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2747</TotalTime>
  <Words>275</Words>
  <Application>Microsoft Office PowerPoint</Application>
  <PresentationFormat>A4 紙張 (210x297 公釐)</PresentationFormat>
  <Paragraphs>39</Paragraphs>
  <Slides>1</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vt:i4>
      </vt:variant>
    </vt:vector>
  </HeadingPairs>
  <TitlesOfParts>
    <vt:vector size="8" baseType="lpstr">
      <vt:lpstr>微軟正黑體</vt:lpstr>
      <vt:lpstr>新細明體</vt:lpstr>
      <vt:lpstr>Arial</vt:lpstr>
      <vt:lpstr>Arial Black</vt:lpstr>
      <vt:lpstr>Calibri</vt:lpstr>
      <vt:lpstr>Calibri Light</vt:lpstr>
      <vt:lpstr>Office 佈景主題</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PKHuang</dc:creator>
  <cp:lastModifiedBy>PKHuang</cp:lastModifiedBy>
  <cp:revision>27</cp:revision>
  <dcterms:created xsi:type="dcterms:W3CDTF">2025-05-16T09:01:53Z</dcterms:created>
  <dcterms:modified xsi:type="dcterms:W3CDTF">2026-04-16T08:19:03Z</dcterms:modified>
</cp:coreProperties>
</file>